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5" r:id="rId9"/>
    <p:sldId id="266" r:id="rId10"/>
    <p:sldId id="267" r:id="rId11"/>
    <p:sldId id="268" r:id="rId12"/>
    <p:sldId id="269" r:id="rId13"/>
    <p:sldId id="273" r:id="rId14"/>
    <p:sldId id="274" r:id="rId15"/>
    <p:sldId id="275" r:id="rId16"/>
    <p:sldId id="27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955" y="-5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latin typeface="Times New Roman" panose="02020603050405020304" pitchFamily="18" charset="0"/>
                <a:cs typeface="Times New Roman" panose="02020603050405020304" pitchFamily="18" charset="0"/>
              </a:rPr>
              <a:t>Website Bán </a:t>
            </a:r>
            <a:r>
              <a:rPr dirty="0" err="1">
                <a:latin typeface="Times New Roman" panose="02020603050405020304" pitchFamily="18" charset="0"/>
                <a:cs typeface="Times New Roman" panose="02020603050405020304" pitchFamily="18" charset="0"/>
              </a:rPr>
              <a:t>Quần</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Áo</a:t>
            </a:r>
            <a:r>
              <a:rPr dirty="0">
                <a:latin typeface="Times New Roman" panose="02020603050405020304" pitchFamily="18" charset="0"/>
                <a:cs typeface="Times New Roman" panose="02020603050405020304" pitchFamily="18" charset="0"/>
              </a:rPr>
              <a:t> Online</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err="1">
                <a:latin typeface="Times New Roman" panose="02020603050405020304" pitchFamily="18" charset="0"/>
                <a:cs typeface="Times New Roman" panose="02020603050405020304" pitchFamily="18" charset="0"/>
              </a:rPr>
              <a:t>Giới</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thiệu</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47500" lnSpcReduction="20000"/>
          </a:bodyPr>
          <a:lstStyle/>
          <a:p>
            <a:r>
              <a:rPr lang="vi-VN" sz="2800" b="1" dirty="0"/>
              <a:t>Ogani</a:t>
            </a:r>
            <a:r>
              <a:rPr lang="vi-VN" sz="2800" dirty="0"/>
              <a:t> là một nền tảng thương mại điện tử tiên tiến chuyên về bán quần áo trực tuyến, được xây dựng dựa trên nền tảng công nghệ </a:t>
            </a:r>
            <a:r>
              <a:rPr lang="vi-VN" sz="2800" b="1" dirty="0"/>
              <a:t>.NET</a:t>
            </a:r>
            <a:r>
              <a:rPr lang="vi-VN" sz="2800" dirty="0"/>
              <a:t> vững chắc và các nguyên tắc kiến trúc hiện đại. Giao diện mua sắm dành cho khách hàng được phát triển bằng </a:t>
            </a:r>
            <a:r>
              <a:rPr lang="vi-VN" sz="2800" b="1" dirty="0"/>
              <a:t>ASP.NET MVC thuần</a:t>
            </a:r>
            <a:r>
              <a:rPr lang="vi-VN" sz="2800" dirty="0"/>
              <a:t> để đảm bảo hiệu năng tối ưu, tốc độ tải nhanh và khả năng mở rộng, trong khi hệ thống quản trị nội bộ được thiết kế với </a:t>
            </a:r>
            <a:r>
              <a:rPr lang="vi-VN" sz="2800" b="1" dirty="0"/>
              <a:t>AngularJS</a:t>
            </a:r>
            <a:r>
              <a:rPr lang="vi-VN" sz="2800" dirty="0"/>
              <a:t> để cung cấp trải nghiệm quản lý động, trực quan và mượt mà. • </a:t>
            </a:r>
            <a:r>
              <a:rPr lang="vi-VN" sz="2800" b="1" dirty="0"/>
              <a:t>Chức năng chính</a:t>
            </a:r>
            <a:r>
              <a:rPr lang="vi-VN" sz="2800" dirty="0"/>
              <a:t> bao gồm: Quản lý sản phẩm (thêm, sửa, xóa, gán vào kho), quản lý danh mục (tạo, chỉnh sửa, xóa danh mục sản phẩm), xử lý đơn hàng (tạo, theo dõi, cập nhật trạng thái), quản lý tài khoản người dùng (đăng ký, đăng nhập, phân quyền), giỏ hàng (thêm/xóa sản phẩm, tính toán tổng giá), thanh toán trực tuyến/offline (thẻ tín dụng, tiền mặt khi giao hàng), tìm kiếm sản phẩm theo từ khóa, và tích hợp </a:t>
            </a:r>
            <a:r>
              <a:rPr lang="vi-VN" sz="2800" b="1" dirty="0"/>
              <a:t>chatbot AI</a:t>
            </a:r>
            <a:r>
              <a:rPr lang="vi-VN" sz="2800" dirty="0"/>
              <a:t> (sử dụng Dialogflow) để hỗ trợ khách hàng 24/7 với các tương tác tự động. • </a:t>
            </a:r>
            <a:r>
              <a:rPr lang="vi-VN" sz="2800" b="1" dirty="0"/>
              <a:t>Công nghệ sử dụng</a:t>
            </a:r>
            <a:r>
              <a:rPr lang="vi-VN" sz="2800" dirty="0"/>
              <a:t>:</a:t>
            </a:r>
          </a:p>
          <a:p>
            <a:r>
              <a:rPr lang="vi-VN" sz="2800" b="1" dirty="0"/>
              <a:t>Cơ sở dữ liệu</a:t>
            </a:r>
            <a:r>
              <a:rPr lang="vi-VN" sz="2800" dirty="0"/>
              <a:t>: </a:t>
            </a:r>
            <a:r>
              <a:rPr lang="vi-VN" sz="2800" b="1" dirty="0"/>
              <a:t>SQL Server</a:t>
            </a:r>
            <a:r>
              <a:rPr lang="vi-VN" sz="2800" dirty="0"/>
              <a:t> để lưu trữ thông tin chi tiết về sản phẩm (tên, mô tả, giá, size, hình ảnh, tồn kho), đơn hàng, tài khoản người dùng, và lịch sử giao dịch.</a:t>
            </a:r>
          </a:p>
          <a:p>
            <a:r>
              <a:rPr lang="vi-VN" sz="2800" b="1" dirty="0"/>
              <a:t>Truy xuất dữ liệu</a:t>
            </a:r>
            <a:r>
              <a:rPr lang="vi-VN" sz="2800" dirty="0"/>
              <a:t>: </a:t>
            </a:r>
            <a:r>
              <a:rPr lang="vi-VN" sz="2800" b="1" dirty="0"/>
              <a:t>Entity Framework</a:t>
            </a:r>
            <a:r>
              <a:rPr lang="vi-VN" sz="2800" dirty="0"/>
              <a:t> để tối ưu hóa việc quản lý và truy vấn dữ liệu, đảm bảo hiệu suất cao và dễ bảo trì.</a:t>
            </a:r>
          </a:p>
          <a:p>
            <a:r>
              <a:rPr lang="vi-VN" sz="2800" b="1" dirty="0"/>
              <a:t>Chatbot</a:t>
            </a:r>
            <a:r>
              <a:rPr lang="vi-VN" sz="2800" dirty="0"/>
              <a:t>: </a:t>
            </a:r>
            <a:r>
              <a:rPr lang="vi-VN" sz="2800" b="1" dirty="0"/>
              <a:t>Dialogflow</a:t>
            </a:r>
            <a:r>
              <a:rPr lang="vi-VN" sz="2800" dirty="0"/>
              <a:t> được tích hợp để xử lý các ý định (intents) như chào hỏi, cung cấp thông tin sản phẩm (giá, size, tồn kho), tư vấn đổi trả, cung cấp địa chỉ kho hàng, thông tin giờ làm việc, và hỗ trợ giải đáp thắc mắc theo thời gian thực. • </a:t>
            </a:r>
            <a:r>
              <a:rPr lang="vi-VN" sz="2800" b="1" dirty="0"/>
              <a:t>Mục tiêu</a:t>
            </a:r>
            <a:r>
              <a:rPr lang="vi-VN" sz="2800" dirty="0"/>
              <a:t>: Xây dựng một nền tảng thương mại điện tử chuyên nghiệp, thân thiện với người dùng, cung cấp trải nghiệm mua sắm liền mạch và hỗ trợ khách hàng hiệu quả thông qua chatbot tự động. Đồng thời, hệ thống cung cấp công cụ quản lý mạnh mẽ, linh hoạt cho quản trị viên để giám sát và điều chỉnh hoạt động kinh doanh. Hệ thống khởi chạy với dữ liệu mẫu bao gồm tài khoản quản trị viên, tài khoản khách hàng mẫu, danh mục sản phẩm ban đầu, thông tin kho hàng, và các đánh giá mẫu để hỗ trợ triển khai, kiểm thử và vận hành ban đầu.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Ngữ</a:t>
            </a:r>
            <a:r>
              <a:rPr dirty="0"/>
              <a:t> </a:t>
            </a:r>
            <a:r>
              <a:rPr dirty="0" err="1"/>
              <a:t>cảnh</a:t>
            </a:r>
            <a:r>
              <a:rPr dirty="0"/>
              <a:t> </a:t>
            </a:r>
            <a:r>
              <a:rPr dirty="0" err="1"/>
              <a:t>nghiệp</a:t>
            </a:r>
            <a:r>
              <a:rPr dirty="0"/>
              <a:t> </a:t>
            </a:r>
            <a:r>
              <a:rPr dirty="0" err="1"/>
              <a:t>vụ</a:t>
            </a:r>
            <a:r>
              <a:rPr dirty="0"/>
              <a:t> </a:t>
            </a:r>
          </a:p>
        </p:txBody>
      </p:sp>
      <p:sp>
        <p:nvSpPr>
          <p:cNvPr id="3" name="Content Placeholder 2"/>
          <p:cNvSpPr>
            <a:spLocks noGrp="1"/>
          </p:cNvSpPr>
          <p:nvPr>
            <p:ph idx="1"/>
          </p:nvPr>
        </p:nvSpPr>
        <p:spPr/>
        <p:txBody>
          <a:bodyPr>
            <a:normAutofit fontScale="25000" lnSpcReduction="20000"/>
          </a:bodyPr>
          <a:lstStyle/>
          <a:p>
            <a:r>
              <a:rPr lang="vi-VN" b="1" dirty="0"/>
              <a:t>Ogani</a:t>
            </a:r>
            <a:r>
              <a:rPr lang="vi-VN" dirty="0"/>
              <a:t> là một nền tảng thương mại điện tử chuyên bán quần áo trực tuyến, phục vụ cả khách hàng và quản trị viên với các nghiệp vụ chi tiết sau:</a:t>
            </a:r>
          </a:p>
          <a:p>
            <a:r>
              <a:rPr lang="vi-VN" b="1" dirty="0"/>
              <a:t>Product Catalog</a:t>
            </a:r>
            <a:r>
              <a:rPr lang="vi-VN" dirty="0"/>
              <a:t>: </a:t>
            </a:r>
          </a:p>
          <a:p>
            <a:pPr lvl="1"/>
            <a:r>
              <a:rPr lang="vi-VN" dirty="0"/>
              <a:t>Khách hàng có thể duyệt danh sách sản phẩm với các thông tin như tên, mô tả, giá, size, hình ảnh, số lượng tồn kho, địa chỉ kho hàng, và cờ sản phẩm hot (nếu có).</a:t>
            </a:r>
          </a:p>
          <a:p>
            <a:pPr lvl="1"/>
            <a:r>
              <a:rPr lang="vi-VN" dirty="0"/>
              <a:t>Hỗ trợ lọc/sắp xếp sản phẩm theo giá, danh mục (quần, áo, phụ kiện, v.v.), hoặc mức độ phổ biến.</a:t>
            </a:r>
          </a:p>
          <a:p>
            <a:pPr lvl="1"/>
            <a:r>
              <a:rPr lang="vi-VN" dirty="0"/>
              <a:t>Xem chi tiết sản phẩm bao gồm đánh giá từ khách hàng (1-5 sao, bình luận) và thông tin bổ sung như khuyến mãi áp dụng.</a:t>
            </a:r>
          </a:p>
          <a:p>
            <a:pPr lvl="1"/>
            <a:r>
              <a:rPr lang="vi-VN" dirty="0"/>
              <a:t>Quản trị viên có thể thêm, sửa, xóa sản phẩm, tạo danh mục mới, và gán sản phẩm vào kho hàng phù hợp dựa trên vị trí địa lý hoặc số lượng tồn kho.</a:t>
            </a:r>
          </a:p>
          <a:p>
            <a:r>
              <a:rPr lang="vi-VN" b="1" dirty="0"/>
              <a:t>Shopping Cart</a:t>
            </a:r>
            <a:r>
              <a:rPr lang="vi-VN" dirty="0"/>
              <a:t>: </a:t>
            </a:r>
          </a:p>
          <a:p>
            <a:pPr lvl="1"/>
            <a:r>
              <a:rPr lang="vi-VN" dirty="0"/>
              <a:t>Khách hàng có thể thêm/xóa sản phẩm vào giỏ hàng từ trang danh sách hoặc trang chi tiết sản phẩm.</a:t>
            </a:r>
          </a:p>
          <a:p>
            <a:pPr lvl="1"/>
            <a:r>
              <a:rPr lang="vi-VN" dirty="0"/>
              <a:t>Theo dõi thông tin tổng quan như tổng giá trị giỏ hàng, phí vận chuyển, các mã khuyến mãi áp dụng, và tổng số tiền đơn hàng, với cập nhật theo thời gian thực khi có thay đổi.</a:t>
            </a:r>
          </a:p>
          <a:p>
            <a:pPr lvl="1"/>
            <a:r>
              <a:rPr lang="vi-VN" dirty="0"/>
              <a:t>Quản trị viên có thể xem, quản lý và phân tích tất cả giỏ hàng của người dùng để đánh giá xu hướng mua sắm hoặc xử lý các trường hợp đặc biệt (hủy giỏ, lỗi thanh toán).</a:t>
            </a:r>
          </a:p>
          <a:p>
            <a:r>
              <a:rPr lang="vi-VN" b="1" dirty="0"/>
              <a:t>Payment Process</a:t>
            </a:r>
            <a:r>
              <a:rPr lang="vi-VN" dirty="0"/>
              <a:t>: </a:t>
            </a:r>
          </a:p>
          <a:p>
            <a:pPr lvl="1"/>
            <a:r>
              <a:rPr lang="vi-VN" dirty="0"/>
              <a:t>Hỗ trợ thanh toán qua thẻ tín dụng (Visa, Mastercard) hoặc tiền mặt khi giao hàng (COD).</a:t>
            </a:r>
          </a:p>
          <a:p>
            <a:pPr lvl="1"/>
            <a:r>
              <a:rPr lang="vi-VN" dirty="0"/>
              <a:t>Tự động xác thực thông tin sản phẩm (số lượng, giá, tồn kho) trước khi xử lý thanh toán.</a:t>
            </a:r>
          </a:p>
          <a:p>
            <a:pPr lvl="1"/>
            <a:r>
              <a:rPr lang="vi-VN" dirty="0"/>
              <a:t>Gửi email xác nhận đơn hàng cho khách hàng ngay sau khi thanh toán thành công, bao gồm mã đơn hàng, thông tin sản phẩm, và dự kiến giao hàng.</a:t>
            </a:r>
          </a:p>
          <a:p>
            <a:pPr lvl="1"/>
            <a:r>
              <a:rPr lang="vi-VN" dirty="0"/>
              <a:t>Quản trị viên có thể theo dõi trạng thái thanh toán và xử lý các giao dịch chưa hoàn tất.</a:t>
            </a:r>
          </a:p>
          <a:p>
            <a:r>
              <a:rPr lang="vi-VN" b="1" dirty="0"/>
              <a:t>Inventory</a:t>
            </a:r>
            <a:r>
              <a:rPr lang="vi-VN" dirty="0"/>
              <a:t>: </a:t>
            </a:r>
          </a:p>
          <a:p>
            <a:pPr lvl="1"/>
            <a:r>
              <a:rPr lang="vi-VN" dirty="0"/>
              <a:t>Quản trị viên kiểm soát số lượng tồn kho theo từng kho hàng, cập nhật tự động sau mỗi đơn hàng thành công.</a:t>
            </a:r>
          </a:p>
          <a:p>
            <a:pPr lvl="1"/>
            <a:r>
              <a:rPr lang="vi-VN" dirty="0"/>
              <a:t>Lưu trữ thông tin chi tiết về địa chỉ kho, vị trí địa lý, và số lượng sản phẩm hiện có tại từng kho để tối ưu hóa phân phối.</a:t>
            </a:r>
          </a:p>
          <a:p>
            <a:pPr lvl="1"/>
            <a:r>
              <a:rPr lang="vi-VN" dirty="0"/>
              <a:t>Hỗ trợ cảnh báo khi tồn kho xuống dưới ngưỡng cho phép (ví dụ: dưới 10 đơn vị).</a:t>
            </a:r>
          </a:p>
          <a:p>
            <a:r>
              <a:rPr lang="vi-VN" b="1" dirty="0"/>
              <a:t>Rating</a:t>
            </a:r>
            <a:r>
              <a:rPr lang="vi-VN" dirty="0"/>
              <a:t>: </a:t>
            </a:r>
          </a:p>
          <a:p>
            <a:pPr lvl="1"/>
            <a:r>
              <a:rPr lang="vi-VN" dirty="0"/>
              <a:t>Khách hàng có thể chấm điểm sản phẩm từ 1-5 sao và để lại bình luận sau khi nhận hàng, giúp cải thiện chất lượng sản phẩm.</a:t>
            </a:r>
          </a:p>
          <a:p>
            <a:pPr lvl="1"/>
            <a:r>
              <a:rPr lang="vi-VN" dirty="0"/>
              <a:t>Quản trị viên có thể xem, duyệt hoặc xóa các đánh giá/bình luận không phù hợp để duy trì chất lượng nội dung.</a:t>
            </a:r>
          </a:p>
          <a:p>
            <a:r>
              <a:rPr lang="vi-VN" b="1" dirty="0"/>
              <a:t>Access Control</a:t>
            </a:r>
            <a:r>
              <a:rPr lang="vi-VN" dirty="0"/>
              <a:t>: </a:t>
            </a:r>
          </a:p>
          <a:p>
            <a:pPr lvl="1"/>
            <a:r>
              <a:rPr lang="vi-VN" dirty="0"/>
              <a:t>Khách hàng không cần đăng nhập vẫn có thể thêm sản phẩm vào giỏ và hoàn tất thanh toán làm khách.</a:t>
            </a:r>
          </a:p>
          <a:p>
            <a:pPr lvl="1"/>
            <a:r>
              <a:rPr lang="vi-VN" dirty="0"/>
              <a:t>Hỗ trợ đăng ký, đăng nhập, và đăng xuất cho cả khách hàng và quản trị viên.</a:t>
            </a:r>
          </a:p>
          <a:p>
            <a:pPr lvl="1"/>
            <a:r>
              <a:rPr lang="vi-VN" dirty="0"/>
              <a:t>Quản trị viên sau khi đăng nhập sẽ được chuyển hướng đến trang quản trị để thực hiện các chức năng như quản lý danh mục, sản phẩm, thành viên, đơn hàng, bình luận, và phân quyền truy cập.</a:t>
            </a:r>
          </a:p>
          <a:p>
            <a:r>
              <a:rPr lang="vi-VN" b="1" dirty="0"/>
              <a:t>Chatbot</a:t>
            </a:r>
            <a:r>
              <a:rPr lang="vi-VN" dirty="0"/>
              <a:t>: </a:t>
            </a:r>
          </a:p>
          <a:p>
            <a:pPr lvl="1"/>
            <a:r>
              <a:rPr lang="vi-VN" dirty="0"/>
              <a:t>Hỗ trợ tự động cho khách hàng 24/7 với các chức năng như chào hỏi, cung cấp thông tin sản phẩm (giá, size, tồn kho), tư vấn size dựa trên hướng dẫn chọn đồ, hướng dẫn quy trình đổi trả, cung cấp địa chỉ kho hàng cụ thể, và thông tin giờ làm việc của website.</a:t>
            </a:r>
          </a:p>
          <a:p>
            <a:pPr lvl="1"/>
            <a:r>
              <a:rPr lang="vi-VN" dirty="0"/>
              <a:t>Tích hợp với hệ thống để trả lời theo thời gian thực, giảm tải cho đội ngũ hỗ trợ khách hàng. • Hệ thống khởi chạy với dữ liệu mẫu bao gồm:</a:t>
            </a:r>
          </a:p>
          <a:p>
            <a:r>
              <a:rPr lang="vi-VN" dirty="0"/>
              <a:t>Tài khoản quản trị viên (với quyền quản lý đầy đủ).</a:t>
            </a:r>
          </a:p>
          <a:p>
            <a:r>
              <a:rPr lang="vi-VN" dirty="0"/>
              <a:t>Tài khoản khách hàng mẫu (để mô phỏng trải nghiệm mua sắm).</a:t>
            </a:r>
          </a:p>
          <a:p>
            <a:r>
              <a:rPr lang="vi-VN" dirty="0"/>
              <a:t>Danh mục sản phẩm ban đầu (quần, áo, phụ kiện) với thông tin chi tiết.</a:t>
            </a:r>
          </a:p>
          <a:p>
            <a:r>
              <a:rPr lang="vi-VN" dirty="0"/>
              <a:t>Dữ liệu kho hàng (địa chỉ, số lượng tồn kho).</a:t>
            </a:r>
          </a:p>
          <a:p>
            <a:r>
              <a:rPr lang="vi-VN" dirty="0"/>
              <a:t>Các đánh giá và bình luận mẫu để kiểm thử tính năng đánh giá.</a:t>
            </a:r>
          </a:p>
          <a:p>
            <a:r>
              <a:rPr lang="vi-VN"/>
              <a:t>Tất cả dữ liệu này được tạo tự động để hỗ trợ triển khai, kiểm thử và vận hành ban đầu vào ngày 08/10/2025.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err="1"/>
              <a:t>Mô</a:t>
            </a:r>
            <a:r>
              <a:rPr dirty="0"/>
              <a:t> </a:t>
            </a:r>
            <a:r>
              <a:rPr dirty="0" err="1"/>
              <a:t>hình</a:t>
            </a:r>
            <a:r>
              <a:rPr dirty="0"/>
              <a:t> </a:t>
            </a:r>
            <a:r>
              <a:rPr dirty="0" err="1"/>
              <a:t>khái</a:t>
            </a:r>
            <a:r>
              <a:rPr dirty="0"/>
              <a:t> </a:t>
            </a:r>
            <a:r>
              <a:rPr dirty="0" err="1"/>
              <a:t>niệm</a:t>
            </a:r>
            <a:endParaRPr dirty="0"/>
          </a:p>
        </p:txBody>
      </p:sp>
      <p:sp>
        <p:nvSpPr>
          <p:cNvPr id="3" name="Content Placeholder 2"/>
          <p:cNvSpPr>
            <a:spLocks noGrp="1"/>
          </p:cNvSpPr>
          <p:nvPr>
            <p:ph idx="1"/>
          </p:nvPr>
        </p:nvSpPr>
        <p:spPr/>
        <p:txBody>
          <a:bodyPr/>
          <a:lstStyle/>
          <a:p>
            <a:r>
              <a:rPr dirty="0" err="1"/>
              <a:t>Sơ</a:t>
            </a:r>
            <a:r>
              <a:rPr dirty="0"/>
              <a:t> </a:t>
            </a:r>
            <a:r>
              <a:rPr dirty="0" err="1"/>
              <a:t>đồ</a:t>
            </a:r>
            <a:r>
              <a:rPr dirty="0"/>
              <a:t> </a:t>
            </a:r>
            <a:r>
              <a:rPr dirty="0" err="1"/>
              <a:t>mô</a:t>
            </a:r>
            <a:r>
              <a:rPr dirty="0"/>
              <a:t> </a:t>
            </a:r>
            <a:r>
              <a:rPr dirty="0" err="1"/>
              <a:t>hình</a:t>
            </a:r>
            <a:r>
              <a:rPr dirty="0"/>
              <a:t> </a:t>
            </a:r>
            <a:r>
              <a:rPr dirty="0" err="1"/>
              <a:t>khái</a:t>
            </a:r>
            <a:r>
              <a:rPr dirty="0"/>
              <a:t> </a:t>
            </a:r>
            <a:r>
              <a:rPr dirty="0" err="1"/>
              <a:t>niệm</a:t>
            </a:r>
            <a:r>
              <a:rPr dirty="0"/>
              <a:t> (</a:t>
            </a:r>
            <a:r>
              <a:rPr dirty="0" err="1"/>
              <a:t>vẽ</a:t>
            </a:r>
            <a:r>
              <a:rPr dirty="0"/>
              <a:t> </a:t>
            </a:r>
            <a:r>
              <a:rPr dirty="0" err="1"/>
              <a:t>và</a:t>
            </a:r>
            <a:r>
              <a:rPr dirty="0"/>
              <a:t> </a:t>
            </a:r>
            <a:r>
              <a:rPr dirty="0" err="1"/>
              <a:t>chèn</a:t>
            </a:r>
            <a:r>
              <a:rPr dirty="0"/>
              <a:t> ở </a:t>
            </a:r>
            <a:r>
              <a:rPr dirty="0" err="1"/>
              <a:t>đây</a:t>
            </a:r>
            <a:r>
              <a:rPr dirty="0"/>
              <a:t>)</a:t>
            </a:r>
          </a:p>
        </p:txBody>
      </p:sp>
      <p:pic>
        <p:nvPicPr>
          <p:cNvPr id="5" name="Picture 4">
            <a:extLst>
              <a:ext uri="{FF2B5EF4-FFF2-40B4-BE49-F238E27FC236}">
                <a16:creationId xmlns:a16="http://schemas.microsoft.com/office/drawing/2014/main" id="{1BC63B75-7ED4-328D-B766-A49818796F59}"/>
              </a:ext>
            </a:extLst>
          </p:cNvPr>
          <p:cNvPicPr>
            <a:picLocks noChangeAspect="1"/>
          </p:cNvPicPr>
          <p:nvPr/>
        </p:nvPicPr>
        <p:blipFill>
          <a:blip r:embed="rId2"/>
          <a:stretch>
            <a:fillRect/>
          </a:stretch>
        </p:blipFill>
        <p:spPr>
          <a:xfrm>
            <a:off x="0" y="1338562"/>
            <a:ext cx="9144000" cy="50492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Case</a:t>
            </a:r>
            <a:r>
              <a:rPr lang="en-US" dirty="0"/>
              <a:t>: </a:t>
            </a:r>
            <a:r>
              <a:rPr lang="en-US" dirty="0" err="1"/>
              <a:t>đặt</a:t>
            </a:r>
            <a:r>
              <a:rPr lang="en-US" dirty="0"/>
              <a:t> </a:t>
            </a:r>
            <a:r>
              <a:rPr lang="en-US" dirty="0" err="1"/>
              <a:t>hàng</a:t>
            </a:r>
            <a:endParaRPr dirty="0"/>
          </a:p>
        </p:txBody>
      </p:sp>
      <p:sp>
        <p:nvSpPr>
          <p:cNvPr id="3" name="Content Placeholder 2"/>
          <p:cNvSpPr>
            <a:spLocks noGrp="1"/>
          </p:cNvSpPr>
          <p:nvPr>
            <p:ph idx="1"/>
          </p:nvPr>
        </p:nvSpPr>
        <p:spPr/>
        <p:txBody>
          <a:bodyPr/>
          <a:lstStyle/>
          <a:p>
            <a:endParaRPr dirty="0"/>
          </a:p>
        </p:txBody>
      </p:sp>
      <p:pic>
        <p:nvPicPr>
          <p:cNvPr id="7" name="Picture 6">
            <a:extLst>
              <a:ext uri="{FF2B5EF4-FFF2-40B4-BE49-F238E27FC236}">
                <a16:creationId xmlns:a16="http://schemas.microsoft.com/office/drawing/2014/main" id="{EE1DB160-CAEA-95C8-5888-EBEDEFBD60B3}"/>
              </a:ext>
            </a:extLst>
          </p:cNvPr>
          <p:cNvPicPr>
            <a:picLocks noChangeAspect="1"/>
          </p:cNvPicPr>
          <p:nvPr/>
        </p:nvPicPr>
        <p:blipFill>
          <a:blip r:embed="rId2"/>
          <a:stretch>
            <a:fillRect/>
          </a:stretch>
        </p:blipFill>
        <p:spPr>
          <a:xfrm>
            <a:off x="457199" y="1225455"/>
            <a:ext cx="8229601" cy="52754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Case</a:t>
            </a:r>
            <a:r>
              <a:rPr lang="en-US" dirty="0"/>
              <a:t>: Quản </a:t>
            </a:r>
            <a:r>
              <a:rPr lang="en-US" dirty="0" err="1"/>
              <a:t>lý</a:t>
            </a:r>
            <a:r>
              <a:rPr lang="en-US" dirty="0"/>
              <a:t> </a:t>
            </a:r>
            <a:r>
              <a:rPr lang="en-US" dirty="0" err="1"/>
              <a:t>danh</a:t>
            </a:r>
            <a:r>
              <a:rPr lang="en-US" dirty="0"/>
              <a:t> </a:t>
            </a:r>
            <a:r>
              <a:rPr lang="en-US" dirty="0" err="1"/>
              <a:t>mục</a:t>
            </a:r>
            <a:r>
              <a:rPr dirty="0"/>
              <a:t> </a:t>
            </a:r>
          </a:p>
        </p:txBody>
      </p:sp>
      <p:pic>
        <p:nvPicPr>
          <p:cNvPr id="9" name="Content Placeholder 8">
            <a:extLst>
              <a:ext uri="{FF2B5EF4-FFF2-40B4-BE49-F238E27FC236}">
                <a16:creationId xmlns:a16="http://schemas.microsoft.com/office/drawing/2014/main" id="{A3E77760-544C-A7F2-0710-F8BE757F17D7}"/>
              </a:ext>
            </a:extLst>
          </p:cNvPr>
          <p:cNvPicPr>
            <a:picLocks noGrp="1" noChangeAspect="1"/>
          </p:cNvPicPr>
          <p:nvPr>
            <p:ph idx="1"/>
          </p:nvPr>
        </p:nvPicPr>
        <p:blipFill>
          <a:blip r:embed="rId2"/>
          <a:stretch>
            <a:fillRect/>
          </a:stretch>
        </p:blipFill>
        <p:spPr>
          <a:xfrm>
            <a:off x="457200" y="1690828"/>
            <a:ext cx="8221222" cy="39057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Case</a:t>
            </a:r>
            <a:r>
              <a:rPr lang="en-US" dirty="0"/>
              <a:t>: Quản </a:t>
            </a:r>
            <a:r>
              <a:rPr lang="en-US" dirty="0" err="1"/>
              <a:t>lý</a:t>
            </a:r>
            <a:r>
              <a:rPr lang="en-US" dirty="0"/>
              <a:t> </a:t>
            </a:r>
            <a:r>
              <a:rPr lang="en-US" dirty="0" err="1"/>
              <a:t>đặt</a:t>
            </a:r>
            <a:r>
              <a:rPr lang="en-US" dirty="0"/>
              <a:t> </a:t>
            </a:r>
            <a:r>
              <a:rPr lang="en-US" dirty="0" err="1"/>
              <a:t>hàng</a:t>
            </a:r>
            <a:endParaRPr dirty="0"/>
          </a:p>
        </p:txBody>
      </p:sp>
      <p:sp>
        <p:nvSpPr>
          <p:cNvPr id="7" name="Content Placeholder 6">
            <a:extLst>
              <a:ext uri="{FF2B5EF4-FFF2-40B4-BE49-F238E27FC236}">
                <a16:creationId xmlns:a16="http://schemas.microsoft.com/office/drawing/2014/main" id="{8CA81C43-0007-77E0-08E0-99645E308FDD}"/>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2B93069D-E7FB-FA37-BFD3-AD52D6AF4A03}"/>
              </a:ext>
            </a:extLst>
          </p:cNvPr>
          <p:cNvPicPr>
            <a:picLocks noChangeAspect="1"/>
          </p:cNvPicPr>
          <p:nvPr/>
        </p:nvPicPr>
        <p:blipFill>
          <a:blip r:embed="rId2"/>
          <a:stretch>
            <a:fillRect/>
          </a:stretch>
        </p:blipFill>
        <p:spPr>
          <a:xfrm>
            <a:off x="457200" y="1417638"/>
            <a:ext cx="8311896" cy="48310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a:t>
            </a:r>
            <a:r>
              <a:rPr lang="en-US" dirty="0"/>
              <a:t>e: Quản </a:t>
            </a:r>
            <a:r>
              <a:rPr lang="en-US" dirty="0" err="1"/>
              <a:t>lý</a:t>
            </a:r>
            <a:r>
              <a:rPr lang="en-US" dirty="0"/>
              <a:t> </a:t>
            </a:r>
            <a:r>
              <a:rPr lang="en-US" dirty="0" err="1"/>
              <a:t>sản</a:t>
            </a:r>
            <a:r>
              <a:rPr lang="en-US" dirty="0"/>
              <a:t> </a:t>
            </a:r>
            <a:r>
              <a:rPr lang="en-US" dirty="0" err="1"/>
              <a:t>phẩm</a:t>
            </a:r>
            <a:endParaRPr dirty="0"/>
          </a:p>
        </p:txBody>
      </p:sp>
      <p:pic>
        <p:nvPicPr>
          <p:cNvPr id="5" name="Content Placeholder 4">
            <a:extLst>
              <a:ext uri="{FF2B5EF4-FFF2-40B4-BE49-F238E27FC236}">
                <a16:creationId xmlns:a16="http://schemas.microsoft.com/office/drawing/2014/main" id="{023AADC4-0576-3722-E32C-95E4ED6A9490}"/>
              </a:ext>
            </a:extLst>
          </p:cNvPr>
          <p:cNvPicPr>
            <a:picLocks noGrp="1" noChangeAspect="1"/>
          </p:cNvPicPr>
          <p:nvPr>
            <p:ph idx="1"/>
          </p:nvPr>
        </p:nvPicPr>
        <p:blipFill>
          <a:blip r:embed="rId2"/>
          <a:stretch>
            <a:fillRect/>
          </a:stretch>
        </p:blipFill>
        <p:spPr>
          <a:xfrm>
            <a:off x="457200" y="1848646"/>
            <a:ext cx="8532858" cy="39120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 Cas</a:t>
            </a:r>
            <a:r>
              <a:rPr lang="en-US" dirty="0"/>
              <a:t>e: Quản </a:t>
            </a:r>
            <a:r>
              <a:rPr lang="en-US" dirty="0" err="1"/>
              <a:t>lý</a:t>
            </a:r>
            <a:r>
              <a:rPr lang="en-US" dirty="0"/>
              <a:t> </a:t>
            </a:r>
            <a:r>
              <a:rPr lang="en-US" dirty="0" err="1"/>
              <a:t>thành</a:t>
            </a:r>
            <a:r>
              <a:rPr lang="en-US" dirty="0"/>
              <a:t> </a:t>
            </a:r>
            <a:r>
              <a:rPr lang="en-US" dirty="0" err="1"/>
              <a:t>viên</a:t>
            </a:r>
            <a:endParaRPr dirty="0"/>
          </a:p>
        </p:txBody>
      </p:sp>
      <p:pic>
        <p:nvPicPr>
          <p:cNvPr id="5" name="Content Placeholder 4">
            <a:extLst>
              <a:ext uri="{FF2B5EF4-FFF2-40B4-BE49-F238E27FC236}">
                <a16:creationId xmlns:a16="http://schemas.microsoft.com/office/drawing/2014/main" id="{EBB5770C-A380-48D1-5780-71317B50E752}"/>
              </a:ext>
            </a:extLst>
          </p:cNvPr>
          <p:cNvPicPr>
            <a:picLocks noGrp="1" noChangeAspect="1"/>
          </p:cNvPicPr>
          <p:nvPr>
            <p:ph idx="1"/>
          </p:nvPr>
        </p:nvPicPr>
        <p:blipFill>
          <a:blip r:embed="rId2"/>
          <a:stretch>
            <a:fillRect/>
          </a:stretch>
        </p:blipFill>
        <p:spPr>
          <a:xfrm>
            <a:off x="1393582" y="1508760"/>
            <a:ext cx="6356835" cy="49442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Quản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vi-VN" sz="2400" dirty="0">
                <a:latin typeface="+mj-lt"/>
              </a:rPr>
              <a:t>Là Người mua, tôi muốn xem và lựa chọn sản phẩm từ các danh mục sản phẩm để thêm vào giỏ hàng của mình, nhằm mua sắm tiện lợi. </a:t>
            </a:r>
            <a:endParaRPr lang="en-US" sz="2400" dirty="0">
              <a:latin typeface="+mj-lt"/>
            </a:endParaRPr>
          </a:p>
          <a:p>
            <a:r>
              <a:rPr lang="vi-VN" sz="2400" dirty="0">
                <a:latin typeface="+mj-lt"/>
              </a:rPr>
              <a:t>Là Admin, tôi muốn thực hiện các thao tác CRUD (Tạo, Đọc, Sửa, Xóa) trên sản phẩm để quản lý chính xác danh mục sản phẩm đang được bán.</a:t>
            </a:r>
            <a:endParaRPr sz="24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 Quản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vi-VN" sz="2800" dirty="0">
                <a:latin typeface="+mj-lt"/>
              </a:rPr>
              <a:t>Là Người mua, tôi muốn tạo và truy cập giỏ hàng của mình để thêm, bớt hoặc chỉnh sửa sản phẩm đã chọn nhằm chuẩn bị cho việc đặt hàng. </a:t>
            </a:r>
            <a:endParaRPr lang="en-US" sz="2800" dirty="0">
              <a:latin typeface="+mj-lt"/>
            </a:endParaRPr>
          </a:p>
          <a:p>
            <a:r>
              <a:rPr lang="vi-VN" sz="2800" dirty="0">
                <a:latin typeface="+mj-lt"/>
              </a:rPr>
              <a:t>Là Admin, tôi muốn có quyền truy cập và quản lý giỏ hàng của người mua nhằm hỗ trợ hoặc xử lý các vấn đề phát sinh. </a:t>
            </a:r>
            <a:endParaRPr lang="en-US" sz="2800" dirty="0">
              <a:latin typeface="+mj-lt"/>
            </a:endParaRPr>
          </a:p>
          <a:p>
            <a:r>
              <a:rPr lang="vi-VN" sz="2800" dirty="0">
                <a:latin typeface="+mj-lt"/>
              </a:rPr>
              <a:t>Là </a:t>
            </a:r>
            <a:r>
              <a:rPr lang="en-US" sz="2800" dirty="0">
                <a:latin typeface="Times New Roman" panose="02020603050405020304" pitchFamily="18" charset="0"/>
                <a:cs typeface="Times New Roman" panose="02020603050405020304" pitchFamily="18" charset="0"/>
              </a:rPr>
              <a:t>Admin</a:t>
            </a:r>
            <a:r>
              <a:rPr lang="vi-VN" sz="2800" dirty="0">
                <a:latin typeface="+mj-lt"/>
              </a:rPr>
              <a:t>, tôi muốn khóa hoặc mở khóa giỏ hàng để tránh </a:t>
            </a:r>
            <a:r>
              <a:rPr lang="en-US" sz="2800" dirty="0" err="1">
                <a:latin typeface="Times New Roman" panose="02020603050405020304" pitchFamily="18" charset="0"/>
                <a:cs typeface="Times New Roman" panose="02020603050405020304" pitchFamily="18" charset="0"/>
              </a:rPr>
              <a:t>lỗi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muốn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xảy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người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thêm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giỏ</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hàng</a:t>
            </a:r>
            <a:endParaRPr sz="28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 Quản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vi-VN" sz="2800" dirty="0">
                <a:latin typeface="+mj-lt"/>
              </a:rPr>
              <a:t>Là Người mua, tôi muốn tạo đơn hàng từ giỏ hàng của mình để hoàn tất quá trình đặt hàng. </a:t>
            </a:r>
            <a:endParaRPr lang="en-US" sz="2800" dirty="0">
              <a:latin typeface="+mj-lt"/>
            </a:endParaRPr>
          </a:p>
          <a:p>
            <a:r>
              <a:rPr lang="vi-VN" sz="2800" dirty="0">
                <a:latin typeface="+mj-lt"/>
              </a:rPr>
              <a:t>Là Admin, tôi muốn xem thông tin chi tiết các đơn hàng để theo dõi và xử lý đơn hàng hiệu quả. </a:t>
            </a:r>
            <a:endParaRPr lang="en-US" sz="2800" dirty="0">
              <a:latin typeface="+mj-lt"/>
            </a:endParaRPr>
          </a:p>
          <a:p>
            <a:r>
              <a:rPr lang="vi-VN" sz="2800" dirty="0">
                <a:latin typeface="+mj-lt"/>
              </a:rPr>
              <a:t>Là Admin, tôi muốn CRUD đơn hàng để duy trì trạng thái và tính hợp lệ của đơn hàng.</a:t>
            </a:r>
            <a:endParaRPr sz="28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643C5-C251-E77C-FF45-0060F4F4F2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8974A-BDCA-D80D-25BE-2FDADA4A4CC3}"/>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 Quyền </a:t>
            </a:r>
            <a:r>
              <a:rPr lang="en-US" dirty="0" err="1">
                <a:latin typeface="Times New Roman" panose="02020603050405020304" pitchFamily="18" charset="0"/>
                <a:cs typeface="Times New Roman" panose="02020603050405020304" pitchFamily="18" charset="0"/>
              </a:rPr>
              <a:t>truy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B847BB-416B-1D84-C66B-65EEFFD63B7B}"/>
              </a:ext>
            </a:extLst>
          </p:cNvPr>
          <p:cNvSpPr>
            <a:spLocks noGrp="1"/>
          </p:cNvSpPr>
          <p:nvPr>
            <p:ph idx="1"/>
          </p:nvPr>
        </p:nvSpPr>
        <p:spPr/>
        <p:txBody>
          <a:bodyPr>
            <a:normAutofit/>
          </a:bodyPr>
          <a:lstStyle/>
          <a:p>
            <a:r>
              <a:rPr lang="vi-VN" sz="2800" dirty="0">
                <a:latin typeface="+mj-lt"/>
              </a:rPr>
              <a:t>Là User, tôi muốn được phân quyền truy cập dựa trên vai trò của mình nhằm đảm bảo chỉ có các chức năng phù hợp mới được truy cập. </a:t>
            </a:r>
            <a:endParaRPr lang="en-US" sz="2800" dirty="0">
              <a:latin typeface="+mj-lt"/>
            </a:endParaRPr>
          </a:p>
          <a:p>
            <a:r>
              <a:rPr lang="vi-VN" sz="2800" dirty="0">
                <a:latin typeface="+mj-lt"/>
              </a:rPr>
              <a:t>Là Admin, tôi muốn quản lý vai trò và quyền truy cập của các User để kiểm soát và phân chia nhiệm vụ hợp lý.</a:t>
            </a:r>
            <a:endParaRPr sz="2800" dirty="0">
              <a:latin typeface="+mj-lt"/>
            </a:endParaRPr>
          </a:p>
        </p:txBody>
      </p:sp>
    </p:spTree>
    <p:extLst>
      <p:ext uri="{BB962C8B-B14F-4D97-AF65-F5344CB8AC3E}">
        <p14:creationId xmlns:p14="http://schemas.microsoft.com/office/powerpoint/2010/main" val="1628519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B9E3-DC40-280E-A0B4-EE6CBBCFB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5162E-F643-2505-0E4D-754550D24A8A}"/>
              </a:ext>
            </a:extLst>
          </p:cNvPr>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 Quản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toán</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EF7583-3AC3-0F50-145E-AAC91A40090E}"/>
              </a:ext>
            </a:extLst>
          </p:cNvPr>
          <p:cNvSpPr>
            <a:spLocks noGrp="1"/>
          </p:cNvSpPr>
          <p:nvPr>
            <p:ph idx="1"/>
          </p:nvPr>
        </p:nvSpPr>
        <p:spPr/>
        <p:txBody>
          <a:bodyPr>
            <a:normAutofit/>
          </a:bodyPr>
          <a:lstStyle/>
          <a:p>
            <a:r>
              <a:rPr lang="vi-VN" sz="2800" dirty="0">
                <a:latin typeface="+mj-lt"/>
              </a:rPr>
              <a:t>Là Người mua, tôi muốn lựa chọn phương thức thanh toán phù hợp để thực hiện thanh toán đơn hàng. </a:t>
            </a:r>
            <a:endParaRPr lang="en-US" sz="2800" dirty="0">
              <a:latin typeface="+mj-lt"/>
            </a:endParaRPr>
          </a:p>
        </p:txBody>
      </p:sp>
    </p:spTree>
    <p:extLst>
      <p:ext uri="{BB962C8B-B14F-4D97-AF65-F5344CB8AC3E}">
        <p14:creationId xmlns:p14="http://schemas.microsoft.com/office/powerpoint/2010/main" val="1023184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F9623-39FE-88B1-C85C-087ADFDEF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0F4BD-7139-3ED3-6FCD-948C55ED7D01}"/>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User Stories</a:t>
            </a:r>
            <a:r>
              <a:rPr lang="en-US" dirty="0">
                <a:latin typeface="Times New Roman" panose="02020603050405020304" pitchFamily="18" charset="0"/>
                <a:cs typeface="Times New Roman" panose="02020603050405020304" pitchFamily="18" charset="0"/>
              </a:rPr>
              <a:t>: Quản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E67737-2BC4-C558-F21C-0CCA4109F99B}"/>
              </a:ext>
            </a:extLst>
          </p:cNvPr>
          <p:cNvSpPr>
            <a:spLocks noGrp="1"/>
          </p:cNvSpPr>
          <p:nvPr>
            <p:ph idx="1"/>
          </p:nvPr>
        </p:nvSpPr>
        <p:spPr/>
        <p:txBody>
          <a:bodyPr>
            <a:normAutofit/>
          </a:bodyPr>
          <a:lstStyle/>
          <a:p>
            <a:r>
              <a:rPr lang="vi-VN" sz="2800" dirty="0">
                <a:latin typeface="+mj-lt"/>
              </a:rPr>
              <a:t>Là Người mua, tôi muốn đánh giá sản phẩm sau khi mua hàng để phản hồi chất lượng sản phẩm và cung cấp thông tin cho các người mua khác. </a:t>
            </a:r>
            <a:endParaRPr lang="en-US" sz="2800" dirty="0">
              <a:latin typeface="+mj-lt"/>
            </a:endParaRPr>
          </a:p>
        </p:txBody>
      </p:sp>
    </p:spTree>
    <p:extLst>
      <p:ext uri="{BB962C8B-B14F-4D97-AF65-F5344CB8AC3E}">
        <p14:creationId xmlns:p14="http://schemas.microsoft.com/office/powerpoint/2010/main" val="1491305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normAutofit/>
          </a:bodyPr>
          <a:lstStyle/>
          <a:p>
            <a:pPr marL="0" indent="0" algn="ctr">
              <a:buNone/>
            </a:pPr>
            <a:endParaRPr lang="en-US" sz="4800" dirty="0">
              <a:latin typeface="Times New Roman" panose="02020603050405020304" pitchFamily="18" charset="0"/>
              <a:cs typeface="Times New Roman" panose="02020603050405020304" pitchFamily="18" charset="0"/>
            </a:endParaRPr>
          </a:p>
          <a:p>
            <a:pPr marL="0" indent="0" algn="ctr">
              <a:buNone/>
            </a:pPr>
            <a:r>
              <a:rPr lang="en-US" sz="4800" dirty="0" err="1">
                <a:latin typeface="Times New Roman" panose="02020603050405020304" pitchFamily="18" charset="0"/>
                <a:cs typeface="Times New Roman" panose="02020603050405020304" pitchFamily="18" charset="0"/>
              </a:rPr>
              <a:t>Cảm</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ơn</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đã</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lắng</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nghe</a:t>
            </a:r>
            <a:endParaRPr sz="4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186</TotalTime>
  <Words>1777</Words>
  <Application>Microsoft Office PowerPoint</Application>
  <PresentationFormat>On-screen Show (4:3)</PresentationFormat>
  <Paragraphs>69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Website Bán Quần Áo Online</vt:lpstr>
      <vt:lpstr>Giới thiệu</vt:lpstr>
      <vt:lpstr>Ngữ cảnh nghiệp vụ </vt:lpstr>
      <vt:lpstr>Mô hình khái niệm</vt:lpstr>
      <vt:lpstr>Use Case: đặt hàng</vt:lpstr>
      <vt:lpstr>Use Case: Quản lý danh mục </vt:lpstr>
      <vt:lpstr>Use Case: Quản lý đặt hàng</vt:lpstr>
      <vt:lpstr>Use Case: Quản lý sản phẩm</vt:lpstr>
      <vt:lpstr>Use Case: Quản lý thành viên</vt:lpstr>
      <vt:lpstr>User Stories: Quản lý sản phẩm</vt:lpstr>
      <vt:lpstr>User Stories: Quản lý giỏ hàng</vt:lpstr>
      <vt:lpstr>User Stories: Quản lý đơn hàng</vt:lpstr>
      <vt:lpstr>User Stories: Quyền truy cập và vai trò người dùng</vt:lpstr>
      <vt:lpstr>User Stories: Quản lý thanh toán</vt:lpstr>
      <vt:lpstr>User Stories: Quản lý đánh giá sản phẩm</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Bán Quần Áo Online</dc:title>
  <dc:subject/>
  <dc:creator/>
  <cp:keywords/>
  <dc:description>generated using python-pptx</dc:description>
  <cp:lastModifiedBy>Lam Truong</cp:lastModifiedBy>
  <cp:revision>5</cp:revision>
  <dcterms:created xsi:type="dcterms:W3CDTF">2013-01-27T09:14:16Z</dcterms:created>
  <dcterms:modified xsi:type="dcterms:W3CDTF">2025-10-08T15:03:20Z</dcterms:modified>
  <cp:category/>
</cp:coreProperties>
</file>